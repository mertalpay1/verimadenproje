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ED230-9F09-5D3B-8E5C-A5DC637531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7C028A-5A34-AEB4-DB5A-509225024B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1FA82-21F2-ABB9-1A7A-41E2D1BB3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6C34A-8899-4867-8888-E50CCDDAD4F7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AB18E-8597-2EEA-542A-C47173967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EAB01-3543-F3EA-7B45-245DA3B05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D81E-2046-496F-8FFE-15CAF96C9C6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857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239AB-83DB-9A01-E61C-C51FFCF85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1F043-89B0-EBB4-10F5-2E38B9318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2751B-8337-1D0D-BBF6-244403E51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6C34A-8899-4867-8888-E50CCDDAD4F7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24548-EE39-69A1-6421-21A559C44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A28E1-C9FB-256F-C33B-53F882846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D81E-2046-496F-8FFE-15CAF96C9C6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89814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D3F38-D8A7-A18F-0F68-B0F0D5E3F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5B54CD-9331-37A6-7BAE-0C1E8AA85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2A367-70DC-471B-3E7E-32DC03457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6C34A-8899-4867-8888-E50CCDDAD4F7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935A6-9DAB-8545-01E3-7DBE9B7E9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E8C95-4FDA-C2BD-FEE7-147C26B3F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D81E-2046-496F-8FFE-15CAF96C9C6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04718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633A8-43CB-E760-0CD3-7B5D1C81A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6BE0-7D01-CA03-468A-91A54E4EE3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872028-88FD-6AC4-B187-EBE091B5A0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257DEC-32E4-CA8B-32AB-564DE1FAD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6C34A-8899-4867-8888-E50CCDDAD4F7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9A3465-509C-4AF4-B6D3-11629C7A3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4E2219-0F2F-2515-6181-6F373B5E7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D81E-2046-496F-8FFE-15CAF96C9C6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32178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18873-28BD-E494-728E-3D3B2DB6B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2F23B5-9E81-C3F6-C6B3-44E1B0100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693D44-D8F2-0748-71B0-91FEB82F15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C924F9-03E3-A781-3E8F-ADB2EE90D5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657646-DE00-4E9E-369D-AAAC321013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30D972-F2E5-94AE-1341-3B051C14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6C34A-8899-4867-8888-E50CCDDAD4F7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2C2824-D540-9384-84BD-6A83BD886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6DE3B-36E8-5F1F-7922-154DC3A5D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D81E-2046-496F-8FFE-15CAF96C9C6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95948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EBB49-7505-961D-432D-72A52F92E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FB48DC-E341-2B36-1D6B-A81DB6C87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6C34A-8899-4867-8888-E50CCDDAD4F7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15F87C-03B0-AC84-1322-15C7DA78A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C77E4B-6E94-CCD5-DBC3-BDFA36D68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D81E-2046-496F-8FFE-15CAF96C9C6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1600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7C2C47-93EE-676B-16F8-032E52C99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6C34A-8899-4867-8888-E50CCDDAD4F7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7B366-4F0C-BB47-6072-67CAC64C8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1683B-84D3-ED97-2BC0-67318A1B5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D81E-2046-496F-8FFE-15CAF96C9C6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13424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42675-9B08-5833-6B40-B76519824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1D5B2-1761-0963-7C84-938A6283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0DE68E-42C8-3E6D-6AA8-D52F1E9F14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3B4000-52D6-5277-4C99-C095B4F9F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6C34A-8899-4867-8888-E50CCDDAD4F7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9828C0-AC8B-D39D-7414-0530D8C5B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9346B9-C358-8FF8-A8F0-1C83980F1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D81E-2046-496F-8FFE-15CAF96C9C6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58570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3471B-24A3-1754-6DEA-474A49753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FFDE92-7861-DCD7-98BC-6C81606E14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738969-03AF-C4CB-DFF4-2290D66FB4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5A5A0-0502-2981-0630-9FDA801F4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6C34A-8899-4867-8888-E50CCDDAD4F7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4ADB26-63EF-B925-CB72-71ED0EEE2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1761A-08AC-174E-1BAB-CBE41F68E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D81E-2046-496F-8FFE-15CAF96C9C6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49890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FA24C-2D4B-6D44-8CB4-3463B6FED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415F11-E60C-8DC2-C030-135A9D4D34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6C592-0016-4561-0458-B8C50CA0B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6C34A-8899-4867-8888-E50CCDDAD4F7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46957-5156-0A2F-36DA-D02464346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9BF03-4629-F10E-0E77-2A3CF5B79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D81E-2046-496F-8FFE-15CAF96C9C6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58539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E6B40F-0B85-97ED-B1CC-502B3732A4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37308A-1E42-ED42-FC57-A9CF21FC43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15B1F-0D33-5321-8A52-DCACA5FD0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6C34A-8899-4867-8888-E50CCDDAD4F7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EBE71-2004-65E7-5877-7C4C0065D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CAB26-2568-7839-F067-1B5DC42BA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D81E-2046-496F-8FFE-15CAF96C9C6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14899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0782D7-673C-7033-AB61-6D25D6C85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81D817-7060-856F-0CCB-4834EEBFD3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6CEF8-FEAB-7A8B-7514-41D5194C17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E6C34A-8899-4867-8888-E50CCDDAD4F7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5941C-09E8-405D-F2BE-60D8B7EB66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E7801-60B4-ECEC-D555-9A7D0D0A12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A6D81E-2046-496F-8FFE-15CAF96C9C6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22904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F5F5A-7ACF-FB13-8250-421F39EADB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5029"/>
            <a:ext cx="9144000" cy="1875453"/>
          </a:xfrm>
        </p:spPr>
        <p:txBody>
          <a:bodyPr>
            <a:normAutofit/>
          </a:bodyPr>
          <a:lstStyle/>
          <a:p>
            <a:r>
              <a:rPr lang="tr-TR" sz="3200" b="1" i="0" dirty="0">
                <a:effectLst/>
                <a:latin typeface="Arial" panose="020B0604020202020204" pitchFamily="34" charset="0"/>
              </a:rPr>
              <a:t>Veri Madenciliğine Giriş</a:t>
            </a:r>
            <a:br>
              <a:rPr lang="tr-TR" sz="3200" b="1" i="0" dirty="0">
                <a:effectLst/>
                <a:latin typeface="Arial" panose="020B0604020202020204" pitchFamily="34" charset="0"/>
              </a:rPr>
            </a:br>
            <a:r>
              <a:rPr lang="tr-TR" sz="3200" b="1" i="0" dirty="0">
                <a:effectLst/>
                <a:latin typeface="Arial" panose="020B0604020202020204" pitchFamily="34" charset="0"/>
              </a:rPr>
              <a:t>Çalışanın işten ayrılıp ayrılmayacağının tahmini</a:t>
            </a:r>
            <a:br>
              <a:rPr lang="tr-TR" sz="3200" b="1" i="0" dirty="0">
                <a:effectLst/>
                <a:latin typeface="Arial" panose="020B0604020202020204" pitchFamily="34" charset="0"/>
              </a:rPr>
            </a:br>
            <a:r>
              <a:rPr lang="tr-TR" sz="3200" b="1" i="0" dirty="0">
                <a:effectLst/>
                <a:latin typeface="Arial" panose="020B0604020202020204" pitchFamily="34" charset="0"/>
              </a:rPr>
              <a:t>Çalışan performans analizi</a:t>
            </a:r>
            <a:endParaRPr lang="tr-TR" sz="32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6576EE-EE71-146A-F290-162D28C46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885986"/>
          </a:xfrm>
        </p:spPr>
        <p:txBody>
          <a:bodyPr/>
          <a:lstStyle/>
          <a:p>
            <a:r>
              <a:rPr lang="tr-TR" dirty="0"/>
              <a:t>220201028 Mert Alpay</a:t>
            </a:r>
          </a:p>
          <a:p>
            <a:r>
              <a:rPr lang="tr-TR" dirty="0"/>
              <a:t>230201143 Harun Erdoğan</a:t>
            </a:r>
          </a:p>
        </p:txBody>
      </p:sp>
    </p:spTree>
    <p:extLst>
      <p:ext uri="{BB962C8B-B14F-4D97-AF65-F5344CB8AC3E}">
        <p14:creationId xmlns:p14="http://schemas.microsoft.com/office/powerpoint/2010/main" val="255089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BF651-D5E8-2810-8F1C-7E930203A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dirty="0"/>
              <a:t>Veri Seti Tanıtımı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8B099-996E-2F23-AA99-C11897B56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tr-TR" sz="2000" dirty="0"/>
              <a:t>Projede, HR Analytics Dataset veri seti kullanılmıştır.</a:t>
            </a:r>
          </a:p>
          <a:p>
            <a:pPr lvl="1"/>
            <a:r>
              <a:rPr lang="tr-TR" sz="2000" dirty="0"/>
              <a:t>Veri setinde 1470 çalışan, 38 öznitelikten oluşmaktadır.</a:t>
            </a:r>
          </a:p>
          <a:p>
            <a:pPr lvl="1"/>
            <a:r>
              <a:rPr lang="tr-TR" sz="2000" dirty="0"/>
              <a:t>Veri setinde 26 sayısal (Yaş,Maaş), 12 kategorik (Eğitim,Departman) değişkenler içermektedir.</a:t>
            </a:r>
          </a:p>
          <a:p>
            <a:pPr lvl="1"/>
            <a:r>
              <a:rPr lang="tr-TR" sz="2000" dirty="0"/>
              <a:t>Projenin amacı, Gözetimli Öğrenme tekniklerini kullanarak hedef değişken olan Attrition (İşten Ayrılma) durumunu tahmin etmektir.</a:t>
            </a:r>
          </a:p>
          <a:p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691597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076CD-79FC-41FF-D998-D3343C11B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dirty="0"/>
              <a:t>Yöntem(Veri Ön İşleme)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3B982-3C86-6B9B-104F-3BA6859DF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000" dirty="0"/>
              <a:t>Tekrar eden satırlar kontrol edildi ve veri setinden silindi.</a:t>
            </a:r>
          </a:p>
          <a:p>
            <a:r>
              <a:rPr lang="tr-TR" sz="2000" dirty="0"/>
              <a:t>Eksik (Null) veriler kontrol edildi ve eksik alanlar medyan (Ortanca) değerleri ile dolduruldu.</a:t>
            </a:r>
          </a:p>
          <a:p>
            <a:r>
              <a:rPr lang="tr-TR" sz="2000" dirty="0"/>
              <a:t>Hatalı veriler düzeltildi.</a:t>
            </a:r>
          </a:p>
          <a:p>
            <a:r>
              <a:rPr lang="tr-TR" sz="2000" dirty="0"/>
              <a:t>Label Encoding ve One-Hot Encoding ile verileri makine öğrenmesi için sayısal değerlere dönüştürüldü.</a:t>
            </a:r>
          </a:p>
          <a:p>
            <a:endParaRPr lang="tr-TR" sz="2000" dirty="0"/>
          </a:p>
          <a:p>
            <a:endParaRPr lang="tr-TR" sz="2000" dirty="0"/>
          </a:p>
          <a:p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2333008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51674-41BB-1FB4-6DFA-C5E2A5D72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dirty="0"/>
              <a:t>Yöntem(Model Eğitimi)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9BA9C-23C0-E68B-F78D-39C0C405A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000" dirty="0"/>
              <a:t>Veri seti bölümü %80 train - %20 test oranı kullanılmıştır</a:t>
            </a:r>
          </a:p>
          <a:p>
            <a:r>
              <a:rPr lang="tr-TR" sz="2000" dirty="0"/>
              <a:t>Model Decision Tree (%77), Random Forest (%86) </a:t>
            </a:r>
            <a:r>
              <a:rPr lang="en-US" sz="2000" dirty="0" err="1"/>
              <a:t>ve</a:t>
            </a:r>
            <a:r>
              <a:rPr lang="en-US" sz="2000" dirty="0"/>
              <a:t> Gradient Boosting (%</a:t>
            </a:r>
            <a:r>
              <a:rPr lang="tr-TR" sz="2000" dirty="0"/>
              <a:t>88</a:t>
            </a:r>
            <a:r>
              <a:rPr lang="en-US" sz="2000" dirty="0"/>
              <a:t>)</a:t>
            </a:r>
            <a:r>
              <a:rPr lang="tr-TR" sz="2000" dirty="0"/>
              <a:t> algoritmaları üzerinde test edilmiştir.</a:t>
            </a:r>
          </a:p>
          <a:p>
            <a:r>
              <a:rPr lang="tr-TR" sz="2000" dirty="0"/>
              <a:t>Yapılan testler sonucunda, proje için Gradient Boosting modeli seçilmiştir.</a:t>
            </a:r>
          </a:p>
          <a:p>
            <a:r>
              <a:rPr lang="tr-TR" sz="2000" dirty="0"/>
              <a:t>Seçilen model üzerinde Hiperparametre Ayarlaması yapılarak modelin başarısı arttırılmıştır.</a:t>
            </a:r>
          </a:p>
          <a:p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3226924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14DC3-7234-7875-7AA5-6A154461E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dirty="0"/>
              <a:t>Sonuç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A93D8-2C38-D391-89BB-0109C52DF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000" dirty="0"/>
              <a:t>Geliştirilen Gradient Boosting modeli %90 doğruluk oranına ulaşmıştır.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1762F1-6053-6A2F-9686-DEFA2E244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0684" y="3429000"/>
            <a:ext cx="6871316" cy="2961042"/>
          </a:xfrm>
          <a:prstGeom prst="rect">
            <a:avLst/>
          </a:prstGeom>
        </p:spPr>
      </p:pic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CDF1ABD9-415D-17FF-1C76-6EAA5E95B4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656891"/>
              </p:ext>
            </p:extLst>
          </p:nvPr>
        </p:nvGraphicFramePr>
        <p:xfrm>
          <a:off x="149936" y="3428999"/>
          <a:ext cx="5170749" cy="24480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150">
                  <a:extLst>
                    <a:ext uri="{9D8B030D-6E8A-4147-A177-3AD203B41FA5}">
                      <a16:colId xmlns:a16="http://schemas.microsoft.com/office/drawing/2014/main" val="30161497"/>
                    </a:ext>
                  </a:extLst>
                </a:gridCol>
                <a:gridCol w="1106353">
                  <a:extLst>
                    <a:ext uri="{9D8B030D-6E8A-4147-A177-3AD203B41FA5}">
                      <a16:colId xmlns:a16="http://schemas.microsoft.com/office/drawing/2014/main" val="2377215448"/>
                    </a:ext>
                  </a:extLst>
                </a:gridCol>
                <a:gridCol w="887767">
                  <a:extLst>
                    <a:ext uri="{9D8B030D-6E8A-4147-A177-3AD203B41FA5}">
                      <a16:colId xmlns:a16="http://schemas.microsoft.com/office/drawing/2014/main" val="4193351444"/>
                    </a:ext>
                  </a:extLst>
                </a:gridCol>
                <a:gridCol w="1050678">
                  <a:extLst>
                    <a:ext uri="{9D8B030D-6E8A-4147-A177-3AD203B41FA5}">
                      <a16:colId xmlns:a16="http://schemas.microsoft.com/office/drawing/2014/main" val="2675383733"/>
                    </a:ext>
                  </a:extLst>
                </a:gridCol>
                <a:gridCol w="1091801">
                  <a:extLst>
                    <a:ext uri="{9D8B030D-6E8A-4147-A177-3AD203B41FA5}">
                      <a16:colId xmlns:a16="http://schemas.microsoft.com/office/drawing/2014/main" val="1040324469"/>
                    </a:ext>
                  </a:extLst>
                </a:gridCol>
              </a:tblGrid>
              <a:tr h="746581">
                <a:tc>
                  <a:txBody>
                    <a:bodyPr/>
                    <a:lstStyle/>
                    <a:p>
                      <a:pPr rtl="0"/>
                      <a:r>
                        <a:rPr lang="tr-TR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Sınıf </a:t>
                      </a:r>
                      <a:endParaRPr lang="tr-TR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tr-TR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Precision</a:t>
                      </a:r>
                      <a:endParaRPr lang="tr-TR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tr-TR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Recall</a:t>
                      </a:r>
                      <a:endParaRPr lang="tr-TR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tr-TR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F1-Score</a:t>
                      </a:r>
                      <a:endParaRPr lang="tr-TR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tr-TR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Kişi Sayısı </a:t>
                      </a:r>
                      <a:endParaRPr lang="tr-TR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369459227"/>
                  </a:ext>
                </a:extLst>
              </a:tr>
              <a:tr h="850718">
                <a:tc>
                  <a:txBody>
                    <a:bodyPr/>
                    <a:lstStyle/>
                    <a:p>
                      <a:pPr rtl="0"/>
                      <a:r>
                        <a:rPr lang="tr-TR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Mevcut Çalışan </a:t>
                      </a:r>
                      <a:endParaRPr lang="tr-TR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tr-TR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0.91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tr-TR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0.98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tr-TR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0.94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tr-TR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247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547613904"/>
                  </a:ext>
                </a:extLst>
              </a:tr>
              <a:tr h="850718">
                <a:tc>
                  <a:txBody>
                    <a:bodyPr/>
                    <a:lstStyle/>
                    <a:p>
                      <a:pPr rtl="0"/>
                      <a:r>
                        <a:rPr lang="tr-TR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Ayrılan Personel </a:t>
                      </a:r>
                      <a:endParaRPr lang="tr-TR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tr-TR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0.80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tr-TR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0.51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tr-TR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0.62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tr-TR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47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066885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0892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219</Words>
  <Application>Microsoft Office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Google Sans Text</vt:lpstr>
      <vt:lpstr>Office Theme</vt:lpstr>
      <vt:lpstr>Veri Madenciliğine Giriş Çalışanın işten ayrılıp ayrılmayacağının tahmini Çalışan performans analizi</vt:lpstr>
      <vt:lpstr>Veri Seti Tanıtımı</vt:lpstr>
      <vt:lpstr>Yöntem(Veri Ön İşleme)</vt:lpstr>
      <vt:lpstr>Yöntem(Model Eğitimi)</vt:lpstr>
      <vt:lpstr>Sonuç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 Madenciliğine Giriş Çalışanın işten ayrılıp ayrılmayacağının tahmini Çalışan performans analizi</dc:title>
  <dc:creator>aa</dc:creator>
  <cp:lastModifiedBy>aa</cp:lastModifiedBy>
  <cp:revision>4</cp:revision>
  <dcterms:created xsi:type="dcterms:W3CDTF">2025-12-14T13:56:34Z</dcterms:created>
  <dcterms:modified xsi:type="dcterms:W3CDTF">2025-12-15T14:31:01Z</dcterms:modified>
</cp:coreProperties>
</file>